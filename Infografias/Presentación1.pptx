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50" d="100"/>
          <a:sy n="50" d="100"/>
        </p:scale>
        <p:origin x="19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356703"/>
            <a:ext cx="5829300" cy="501340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7563446"/>
            <a:ext cx="5143500" cy="347671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270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023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590057"/>
            <a:ext cx="5915025" cy="5990088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9636813"/>
            <a:ext cx="5915025" cy="315004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137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833390"/>
            <a:ext cx="2914650" cy="91368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833390"/>
            <a:ext cx="2914650" cy="91368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46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66681"/>
            <a:ext cx="5915025" cy="27833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530053"/>
            <a:ext cx="2901255" cy="17300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5260078"/>
            <a:ext cx="2901255" cy="77367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530053"/>
            <a:ext cx="2915543" cy="17300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5260078"/>
            <a:ext cx="2915543" cy="77367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55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997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039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960014"/>
            <a:ext cx="2211884" cy="33600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2073367"/>
            <a:ext cx="3471863" cy="1023348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4320064"/>
            <a:ext cx="2211884" cy="80034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37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960014"/>
            <a:ext cx="2211884" cy="33600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2073367"/>
            <a:ext cx="3471863" cy="1023348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4320064"/>
            <a:ext cx="2211884" cy="80034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159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320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766678"/>
            <a:ext cx="1478756" cy="122035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766678"/>
            <a:ext cx="4350544" cy="122035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934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766681"/>
            <a:ext cx="5915025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833390"/>
            <a:ext cx="5915025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3346867"/>
            <a:ext cx="15430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073E3-B4C7-4AE3-B770-51819F79E8C0}" type="datetimeFigureOut">
              <a:rPr lang="es-MX" smtClean="0"/>
              <a:t>20/10/2026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3346867"/>
            <a:ext cx="2314575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3346867"/>
            <a:ext cx="15430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35524-9BA9-4B6A-84CE-E2C32E59395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147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hyperlink" Target="https://iris.who.int/handle/10665/250239" TargetMode="Externa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24.svg"/><Relationship Id="rId2" Type="http://schemas.openxmlformats.org/officeDocument/2006/relationships/hyperlink" Target="https://iris.who.int/handle/10665/250239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9210BC3-5EE9-E8AE-B756-79BB7AB2F876}"/>
              </a:ext>
            </a:extLst>
          </p:cNvPr>
          <p:cNvSpPr/>
          <p:nvPr/>
        </p:nvSpPr>
        <p:spPr>
          <a:xfrm>
            <a:off x="0" y="1120431"/>
            <a:ext cx="6858000" cy="12083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b="1" dirty="0">
                <a:latin typeface="Comic Sans MS" panose="030F0702030302020204" pitchFamily="66" charset="0"/>
              </a:rPr>
              <a:t>Depresión: Información relevante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12E30EA-0CE6-DCB8-CB44-AA14661A8AD0}"/>
              </a:ext>
            </a:extLst>
          </p:cNvPr>
          <p:cNvSpPr/>
          <p:nvPr/>
        </p:nvSpPr>
        <p:spPr>
          <a:xfrm>
            <a:off x="99339" y="2377738"/>
            <a:ext cx="6659323" cy="8757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</a:rPr>
              <a:t>	  Objetivo: Brindar a los participantes información psicológica general sobre lo que es la depresión así como a identificar sus señales.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8E9BBAC-BED7-5D9B-AAFF-AB6F16247218}"/>
              </a:ext>
            </a:extLst>
          </p:cNvPr>
          <p:cNvSpPr/>
          <p:nvPr/>
        </p:nvSpPr>
        <p:spPr>
          <a:xfrm>
            <a:off x="99339" y="3337875"/>
            <a:ext cx="3201766" cy="18773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</a:rPr>
              <a:t>         	La  depresión es un trastorno mental común que puede afectar a cualquiera sin distinción de edad, género o nivel socioeconómico</a:t>
            </a:r>
            <a:endParaRPr lang="es-MX" sz="1600" kern="100" dirty="0">
              <a:solidFill>
                <a:schemeClr val="tx2">
                  <a:lumMod val="90000"/>
                  <a:lumOff val="10000"/>
                </a:schemeClr>
              </a:solidFill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151F2AA-3F41-C93A-DCC9-05FAA5177F5B}"/>
              </a:ext>
            </a:extLst>
          </p:cNvPr>
          <p:cNvSpPr/>
          <p:nvPr/>
        </p:nvSpPr>
        <p:spPr>
          <a:xfrm>
            <a:off x="3539203" y="3337874"/>
            <a:ext cx="3219458" cy="18773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</a:rPr>
              <a:t>La aparición de la depresión no significa que la persona sea perezosa; es una condición de salud tratable que afecta el estado de ánimo, los pensamientos y las funciones diarias.</a:t>
            </a:r>
            <a:endParaRPr lang="es-MX" sz="1600" kern="100" dirty="0">
              <a:solidFill>
                <a:schemeClr val="tx2">
                  <a:lumMod val="90000"/>
                  <a:lumOff val="10000"/>
                </a:schemeClr>
              </a:solidFill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EB8DD5-2B23-BDFB-B49E-462CFF2AA0DE}"/>
              </a:ext>
            </a:extLst>
          </p:cNvPr>
          <p:cNvSpPr txBox="1"/>
          <p:nvPr/>
        </p:nvSpPr>
        <p:spPr>
          <a:xfrm>
            <a:off x="1124754" y="5306773"/>
            <a:ext cx="2014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Señales de Alerta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93E5C7C-A67B-6293-E59C-07F0F709C52C}"/>
              </a:ext>
            </a:extLst>
          </p:cNvPr>
          <p:cNvGrpSpPr/>
          <p:nvPr/>
        </p:nvGrpSpPr>
        <p:grpSpPr>
          <a:xfrm>
            <a:off x="99338" y="5743892"/>
            <a:ext cx="6659323" cy="2422853"/>
            <a:chOff x="0" y="5757761"/>
            <a:chExt cx="6858000" cy="3435225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4168583-95FA-2B87-2267-C6B163F92A3C}"/>
                </a:ext>
              </a:extLst>
            </p:cNvPr>
            <p:cNvSpPr/>
            <p:nvPr/>
          </p:nvSpPr>
          <p:spPr>
            <a:xfrm>
              <a:off x="0" y="5757761"/>
              <a:ext cx="6858000" cy="343522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MX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18FB34A1-349C-068E-1CA5-A5FC65F76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29" y="6046234"/>
              <a:ext cx="6613071" cy="2858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s-MX" alt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Estado de ánimo triste, vacío o irritable la mayor parte del día. </a:t>
              </a:r>
            </a:p>
            <a:p>
              <a:pPr marL="28575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s-MX" alt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Pérdida de interés o placer en actividades que antes se disfrutaban (anhedonia).</a:t>
              </a:r>
            </a:p>
            <a:p>
              <a:pPr marL="28575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s-MX" alt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Cambios significativos en el sueño (insomnio o dormir demasiado) y en el apetito o peso.</a:t>
              </a:r>
            </a:p>
            <a:p>
              <a:pPr marL="28575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s-MX" alt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Fatiga persistente, falta de energía o sensación de inutilidad.</a:t>
              </a:r>
            </a:p>
            <a:p>
              <a:pPr marL="28575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s-MX" alt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Dificultad para concentrarse, pensar con claridad o tomar decisiones.</a:t>
              </a:r>
            </a:p>
          </p:txBody>
        </p:sp>
      </p:grp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D6B9DDF-0260-5891-D9EB-5E2B838B63C6}"/>
              </a:ext>
            </a:extLst>
          </p:cNvPr>
          <p:cNvSpPr/>
          <p:nvPr/>
        </p:nvSpPr>
        <p:spPr>
          <a:xfrm>
            <a:off x="152290" y="8758805"/>
            <a:ext cx="6659324" cy="38399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</a:rPr>
              <a:t>Es importante buscar ayuda profesional lo más pronto posible. Recuerda tu bienestar es lo más importante.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</a:rPr>
              <a:t>Identificar las fuentes de estrés y cuando sea posible alejarse de ella o buscar alternativas menos estresantes.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</a:rPr>
              <a:t>Identificar actividades sociales que se realizaban previamente y buscar la reintegración a ellas.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</a:rPr>
              <a:t>Aunque sea difícil, se debe promover la participación en actividades que antes le eran placenteras, aun cuando ahora no lo sean.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</a:rPr>
              <a:t>Mantener un estilo de vida saludable con tiempos de esparcimiento, actividades físicas en la medida de lo posible, alimentación balanceada, horarios regulares de sueño, realizar actividades grupales, comunitarias, familiares y con amigos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2">
                  <a:lumMod val="90000"/>
                  <a:lumOff val="10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FD2F6BA-2248-E3EF-ED77-F84DF2AE26E7}"/>
              </a:ext>
            </a:extLst>
          </p:cNvPr>
          <p:cNvSpPr txBox="1"/>
          <p:nvPr/>
        </p:nvSpPr>
        <p:spPr>
          <a:xfrm>
            <a:off x="1100263" y="8339903"/>
            <a:ext cx="2974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Algunas recomendaciones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C6CBEE9-37A8-6544-E0E9-9C514A3ACFA0}"/>
              </a:ext>
            </a:extLst>
          </p:cNvPr>
          <p:cNvSpPr/>
          <p:nvPr/>
        </p:nvSpPr>
        <p:spPr>
          <a:xfrm>
            <a:off x="24490" y="12835047"/>
            <a:ext cx="6858000" cy="46105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Organización Mundial de la Salud. (2017). </a:t>
            </a:r>
            <a:r>
              <a:rPr lang="es-MX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Guía de intervención </a:t>
            </a:r>
            <a:r>
              <a:rPr lang="es-MX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mhGAP</a:t>
            </a:r>
            <a:r>
              <a:rPr lang="es-MX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los trastornos mentales, neurológicos y por consumo de sustancias en el nivel de atención de salud no especializada</a:t>
            </a:r>
            <a:r>
              <a:rPr lang="es-MX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(Versión 2.0). </a:t>
            </a:r>
            <a:r>
              <a:rPr lang="es-MX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Organización Mundial de la Salud</a:t>
            </a:r>
            <a:r>
              <a:rPr lang="es-MX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MX" sz="10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04DB5BE-5263-4746-5148-760720B950A3}"/>
              </a:ext>
            </a:extLst>
          </p:cNvPr>
          <p:cNvSpPr/>
          <p:nvPr/>
        </p:nvSpPr>
        <p:spPr>
          <a:xfrm>
            <a:off x="24490" y="1120430"/>
            <a:ext cx="6858000" cy="11714617"/>
          </a:xfrm>
          <a:prstGeom prst="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1" name="Gráfico 20" descr="Diana con relleno sólido">
            <a:extLst>
              <a:ext uri="{FF2B5EF4-FFF2-40B4-BE49-F238E27FC236}">
                <a16:creationId xmlns:a16="http://schemas.microsoft.com/office/drawing/2014/main" id="{60720F33-B17E-1178-0B6A-3145AF293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48" y="2010880"/>
            <a:ext cx="774238" cy="774238"/>
          </a:xfrm>
          <a:prstGeom prst="rect">
            <a:avLst/>
          </a:prstGeom>
        </p:spPr>
      </p:pic>
      <p:pic>
        <p:nvPicPr>
          <p:cNvPr id="23" name="Gráfico 22" descr="Culturista con relleno sólido">
            <a:extLst>
              <a:ext uri="{FF2B5EF4-FFF2-40B4-BE49-F238E27FC236}">
                <a16:creationId xmlns:a16="http://schemas.microsoft.com/office/drawing/2014/main" id="{74041C77-84C6-025E-2C41-6B138251E2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6176" y="8383345"/>
            <a:ext cx="914400" cy="914400"/>
          </a:xfrm>
          <a:prstGeom prst="rect">
            <a:avLst/>
          </a:prstGeom>
        </p:spPr>
      </p:pic>
      <p:pic>
        <p:nvPicPr>
          <p:cNvPr id="25" name="Gráfico 24" descr="Advertencia con relleno sólido">
            <a:extLst>
              <a:ext uri="{FF2B5EF4-FFF2-40B4-BE49-F238E27FC236}">
                <a16:creationId xmlns:a16="http://schemas.microsoft.com/office/drawing/2014/main" id="{C2F8E458-9B5B-B5E7-1BC7-022ACE6390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4769" y="5082525"/>
            <a:ext cx="914400" cy="914400"/>
          </a:xfrm>
          <a:prstGeom prst="rect">
            <a:avLst/>
          </a:prstGeom>
        </p:spPr>
      </p:pic>
      <p:pic>
        <p:nvPicPr>
          <p:cNvPr id="29" name="Gráfico 28" descr="Preguntas con relleno sólido">
            <a:extLst>
              <a:ext uri="{FF2B5EF4-FFF2-40B4-BE49-F238E27FC236}">
                <a16:creationId xmlns:a16="http://schemas.microsoft.com/office/drawing/2014/main" id="{77DD6736-DF1F-CD03-50E5-A525C78F1E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0841" y="8022011"/>
            <a:ext cx="914400" cy="914400"/>
          </a:xfrm>
          <a:prstGeom prst="rect">
            <a:avLst/>
          </a:prstGeom>
        </p:spPr>
      </p:pic>
      <p:pic>
        <p:nvPicPr>
          <p:cNvPr id="33" name="Gráfico 32" descr="Brindis con relleno sólido">
            <a:extLst>
              <a:ext uri="{FF2B5EF4-FFF2-40B4-BE49-F238E27FC236}">
                <a16:creationId xmlns:a16="http://schemas.microsoft.com/office/drawing/2014/main" id="{725913C1-ECE5-0AC5-19B8-44A6FF1E44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3053" y="12053815"/>
            <a:ext cx="697799" cy="697799"/>
          </a:xfrm>
          <a:prstGeom prst="rect">
            <a:avLst/>
          </a:prstGeom>
        </p:spPr>
      </p:pic>
      <p:pic>
        <p:nvPicPr>
          <p:cNvPr id="35" name="Gráfico 34" descr="Reseña de cliente con relleno sólido">
            <a:extLst>
              <a:ext uri="{FF2B5EF4-FFF2-40B4-BE49-F238E27FC236}">
                <a16:creationId xmlns:a16="http://schemas.microsoft.com/office/drawing/2014/main" id="{445B4E13-F5CD-22E0-9C13-551DF0D86D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23922" y="12011541"/>
            <a:ext cx="782346" cy="782346"/>
          </a:xfrm>
          <a:prstGeom prst="rect">
            <a:avLst/>
          </a:prstGeom>
        </p:spPr>
      </p:pic>
      <p:pic>
        <p:nvPicPr>
          <p:cNvPr id="37" name="Gráfico 36" descr="Baile con relleno sólido">
            <a:extLst>
              <a:ext uri="{FF2B5EF4-FFF2-40B4-BE49-F238E27FC236}">
                <a16:creationId xmlns:a16="http://schemas.microsoft.com/office/drawing/2014/main" id="{27C8C2B6-A855-43EA-7306-C0E4175D121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97017" y="8067369"/>
            <a:ext cx="914400" cy="914400"/>
          </a:xfrm>
          <a:prstGeom prst="rect">
            <a:avLst/>
          </a:prstGeom>
        </p:spPr>
      </p:pic>
      <p:pic>
        <p:nvPicPr>
          <p:cNvPr id="39" name="Gráfico 38" descr="Árbol de hojas podridas con relleno sólido">
            <a:extLst>
              <a:ext uri="{FF2B5EF4-FFF2-40B4-BE49-F238E27FC236}">
                <a16:creationId xmlns:a16="http://schemas.microsoft.com/office/drawing/2014/main" id="{DAD2C288-068A-F2FB-5AEF-A8EF678A576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57895" y="9717804"/>
            <a:ext cx="914400" cy="914400"/>
          </a:xfrm>
          <a:prstGeom prst="rect">
            <a:avLst/>
          </a:prstGeom>
        </p:spPr>
      </p:pic>
      <p:pic>
        <p:nvPicPr>
          <p:cNvPr id="41" name="Gráfico 40" descr="Éxito de grupo con relleno sólido">
            <a:extLst>
              <a:ext uri="{FF2B5EF4-FFF2-40B4-BE49-F238E27FC236}">
                <a16:creationId xmlns:a16="http://schemas.microsoft.com/office/drawing/2014/main" id="{7EFE6BC5-BFD2-3750-3045-36B3C5D2917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5060" y="3192371"/>
            <a:ext cx="914400" cy="914400"/>
          </a:xfrm>
          <a:prstGeom prst="rect">
            <a:avLst/>
          </a:prstGeom>
        </p:spPr>
      </p:pic>
      <p:pic>
        <p:nvPicPr>
          <p:cNvPr id="43" name="Gráfico 42" descr="Cabeza con engranajes con relleno sólido">
            <a:extLst>
              <a:ext uri="{FF2B5EF4-FFF2-40B4-BE49-F238E27FC236}">
                <a16:creationId xmlns:a16="http://schemas.microsoft.com/office/drawing/2014/main" id="{FC55DF3C-2430-A503-6539-B81805155B0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06176" y="1253308"/>
            <a:ext cx="914400" cy="914400"/>
          </a:xfrm>
          <a:prstGeom prst="rect">
            <a:avLst/>
          </a:prstGeom>
        </p:spPr>
      </p:pic>
      <p:pic>
        <p:nvPicPr>
          <p:cNvPr id="47" name="Gráfico 46" descr="Silla de ruedas con relleno sólido">
            <a:extLst>
              <a:ext uri="{FF2B5EF4-FFF2-40B4-BE49-F238E27FC236}">
                <a16:creationId xmlns:a16="http://schemas.microsoft.com/office/drawing/2014/main" id="{0F190F5F-9563-BF6C-6A29-196EBF7EE6E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-101773" y="11959079"/>
            <a:ext cx="774238" cy="77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2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9210BC3-5EE9-E8AE-B756-79BB7AB2F876}"/>
              </a:ext>
            </a:extLst>
          </p:cNvPr>
          <p:cNvSpPr/>
          <p:nvPr/>
        </p:nvSpPr>
        <p:spPr>
          <a:xfrm>
            <a:off x="99338" y="55719"/>
            <a:ext cx="6659323" cy="12083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b="1" dirty="0">
                <a:latin typeface="Comic Sans MS" panose="030F0702030302020204" pitchFamily="66" charset="0"/>
              </a:rPr>
              <a:t>Autolesión y suicidio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8E9BBAC-BED7-5D9B-AAFF-AB6F16247218}"/>
              </a:ext>
            </a:extLst>
          </p:cNvPr>
          <p:cNvSpPr/>
          <p:nvPr/>
        </p:nvSpPr>
        <p:spPr>
          <a:xfrm>
            <a:off x="99248" y="2234467"/>
            <a:ext cx="6634922" cy="13289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</a:rPr>
              <a:t>         	El suicidio es el acto de quitarse la vida deliberadamente. La autolesión es un término más amplio que se refiere al envenenamiento o a la lesión autoinfligida intencional, que puede o no tener una intención o resultado fatal.</a:t>
            </a:r>
            <a:endParaRPr lang="es-MX" sz="1600" kern="100" dirty="0">
              <a:solidFill>
                <a:schemeClr val="tx2">
                  <a:lumMod val="90000"/>
                  <a:lumOff val="10000"/>
                </a:schemeClr>
              </a:solidFill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C6CBEE9-37A8-6544-E0E9-9C514A3ACFA0}"/>
              </a:ext>
            </a:extLst>
          </p:cNvPr>
          <p:cNvSpPr/>
          <p:nvPr/>
        </p:nvSpPr>
        <p:spPr>
          <a:xfrm>
            <a:off x="24490" y="13963479"/>
            <a:ext cx="6858000" cy="46105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Organización Mundial de la Salud. (2017). </a:t>
            </a:r>
            <a:r>
              <a:rPr lang="es-MX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Guía de intervención </a:t>
            </a:r>
            <a:r>
              <a:rPr lang="es-MX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mhGAP</a:t>
            </a:r>
            <a:r>
              <a:rPr lang="es-MX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los trastornos mentales, neurológicos y por consumo de sustancias en el nivel de atención de salud no especializada</a:t>
            </a:r>
            <a:r>
              <a:rPr lang="es-MX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(Versión 2.0). </a:t>
            </a:r>
            <a:r>
              <a:rPr lang="es-MX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Organización Mundial de la Salud</a:t>
            </a:r>
            <a:r>
              <a:rPr lang="es-MX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MX" sz="10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04DB5BE-5263-4746-5148-760720B950A3}"/>
              </a:ext>
            </a:extLst>
          </p:cNvPr>
          <p:cNvSpPr/>
          <p:nvPr/>
        </p:nvSpPr>
        <p:spPr>
          <a:xfrm>
            <a:off x="24490" y="0"/>
            <a:ext cx="6809020" cy="13963479"/>
          </a:xfrm>
          <a:prstGeom prst="rect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EA624C7-1919-4C1C-BF81-FB6F274F456F}"/>
              </a:ext>
            </a:extLst>
          </p:cNvPr>
          <p:cNvGrpSpPr/>
          <p:nvPr/>
        </p:nvGrpSpPr>
        <p:grpSpPr>
          <a:xfrm>
            <a:off x="74847" y="941489"/>
            <a:ext cx="6659323" cy="1242589"/>
            <a:chOff x="74848" y="2010880"/>
            <a:chExt cx="6683814" cy="1242589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612E30EA-0CE6-DCB8-CB44-AA14661A8AD0}"/>
                </a:ext>
              </a:extLst>
            </p:cNvPr>
            <p:cNvSpPr/>
            <p:nvPr/>
          </p:nvSpPr>
          <p:spPr>
            <a:xfrm>
              <a:off x="99339" y="2377738"/>
              <a:ext cx="6659323" cy="87573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	  Objetivo: Brindar a los participantes información psicológica general sobre lo que es la suicidio así como a identificar sus señales. </a:t>
              </a:r>
            </a:p>
          </p:txBody>
        </p:sp>
        <p:pic>
          <p:nvPicPr>
            <p:cNvPr id="21" name="Gráfico 20" descr="Diana con relleno sólido">
              <a:extLst>
                <a:ext uri="{FF2B5EF4-FFF2-40B4-BE49-F238E27FC236}">
                  <a16:creationId xmlns:a16="http://schemas.microsoft.com/office/drawing/2014/main" id="{60720F33-B17E-1178-0B6A-3145AF293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848" y="2010880"/>
              <a:ext cx="774238" cy="774238"/>
            </a:xfrm>
            <a:prstGeom prst="rect">
              <a:avLst/>
            </a:prstGeom>
          </p:spPr>
        </p:pic>
      </p:grpSp>
      <p:pic>
        <p:nvPicPr>
          <p:cNvPr id="43" name="Gráfico 42" descr="Cabeza con engranajes con relleno sólido">
            <a:extLst>
              <a:ext uri="{FF2B5EF4-FFF2-40B4-BE49-F238E27FC236}">
                <a16:creationId xmlns:a16="http://schemas.microsoft.com/office/drawing/2014/main" id="{FC55DF3C-2430-A503-6539-B81805155B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6722" y="223457"/>
            <a:ext cx="914400" cy="91440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82455FF-4EE2-A74D-62BA-9AD395BB1288}"/>
              </a:ext>
            </a:extLst>
          </p:cNvPr>
          <p:cNvSpPr/>
          <p:nvPr/>
        </p:nvSpPr>
        <p:spPr>
          <a:xfrm>
            <a:off x="99248" y="3621067"/>
            <a:ext cx="6634922" cy="13289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</a:rPr>
              <a:t>         Las preguntas sobre autolesiones </a:t>
            </a:r>
            <a:r>
              <a:rPr lang="es-MX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</a:rPr>
              <a:t>NO</a:t>
            </a:r>
            <a:r>
              <a:rPr lang="es-MX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702030302020204" pitchFamily="66" charset="0"/>
                <a:ea typeface="Calibri" panose="020F0502020204030204" pitchFamily="34" charset="0"/>
              </a:rPr>
              <a:t> provocan actos de autolesión. A menudo reducen la ansiedad asociada con los pensamientos o los actos de autolesión y ayudan a que la persona se sienta comprendida</a:t>
            </a:r>
            <a:endParaRPr lang="es-MX" sz="1600" kern="100" dirty="0">
              <a:solidFill>
                <a:schemeClr val="tx2">
                  <a:lumMod val="90000"/>
                  <a:lumOff val="10000"/>
                </a:schemeClr>
              </a:solidFill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D854C75-6D0A-BBBB-DF1F-6016269A250B}"/>
              </a:ext>
            </a:extLst>
          </p:cNvPr>
          <p:cNvGrpSpPr/>
          <p:nvPr/>
        </p:nvGrpSpPr>
        <p:grpSpPr>
          <a:xfrm>
            <a:off x="60463" y="4756576"/>
            <a:ext cx="6659323" cy="2673685"/>
            <a:chOff x="99338" y="5082525"/>
            <a:chExt cx="6659323" cy="3084220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FEB8DD5-2B23-BDFB-B49E-462CFF2AA0DE}"/>
                </a:ext>
              </a:extLst>
            </p:cNvPr>
            <p:cNvSpPr txBox="1"/>
            <p:nvPr/>
          </p:nvSpPr>
          <p:spPr>
            <a:xfrm>
              <a:off x="1124754" y="5306773"/>
              <a:ext cx="2014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Señales de Alerta</a:t>
              </a:r>
            </a:p>
          </p:txBody>
        </p: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C93E5C7C-A67B-6293-E59C-07F0F709C52C}"/>
                </a:ext>
              </a:extLst>
            </p:cNvPr>
            <p:cNvGrpSpPr/>
            <p:nvPr/>
          </p:nvGrpSpPr>
          <p:grpSpPr>
            <a:xfrm>
              <a:off x="99338" y="5743892"/>
              <a:ext cx="6659323" cy="2422853"/>
              <a:chOff x="0" y="5757761"/>
              <a:chExt cx="6858000" cy="3435225"/>
            </a:xfrm>
          </p:grpSpPr>
          <p:sp>
            <p:nvSpPr>
              <p:cNvPr id="8" name="Rectángulo: esquinas redondeadas 7">
                <a:extLst>
                  <a:ext uri="{FF2B5EF4-FFF2-40B4-BE49-F238E27FC236}">
                    <a16:creationId xmlns:a16="http://schemas.microsoft.com/office/drawing/2014/main" id="{84168583-95FA-2B87-2267-C6B163F92A3C}"/>
                  </a:ext>
                </a:extLst>
              </p:cNvPr>
              <p:cNvSpPr/>
              <p:nvPr/>
            </p:nvSpPr>
            <p:spPr>
              <a:xfrm>
                <a:off x="0" y="5757761"/>
                <a:ext cx="6858000" cy="343522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s-MX" sz="16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18FB34A1-349C-068E-1CA5-A5FC65F76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929" y="6395339"/>
                <a:ext cx="6613071" cy="216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s-MX" altLang="es-MX" sz="16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omic Sans MS" panose="030F0702030302020204" pitchFamily="66" charset="0"/>
                  </a:rPr>
                  <a:t>Desesperanza y desesperación extremas.</a:t>
                </a:r>
              </a:p>
              <a:p>
                <a:pPr marL="28575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s-MX" altLang="es-MX" sz="16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omic Sans MS" panose="030F0702030302020204" pitchFamily="66" charset="0"/>
                  </a:rPr>
                  <a:t>Pensamientos/ planes/ actos en el presente o en el pasado de autolesión o suicidio.</a:t>
                </a:r>
              </a:p>
              <a:p>
                <a:pPr marL="28575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s-MX" altLang="es-MX" sz="16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omic Sans MS" panose="030F0702030302020204" pitchFamily="66" charset="0"/>
                  </a:rPr>
                  <a:t>Presencia de otro trastorno mental concurrente.</a:t>
                </a:r>
              </a:p>
              <a:p>
                <a:pPr marL="28575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s-MX" altLang="es-MX" sz="16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omic Sans MS" panose="030F0702030302020204" pitchFamily="66" charset="0"/>
                  </a:rPr>
                  <a:t>Dificultad para llevar a cabo actividades de autocuidado, laborales, escolares, domesticas o sociales</a:t>
                </a:r>
              </a:p>
            </p:txBody>
          </p:sp>
        </p:grpSp>
        <p:pic>
          <p:nvPicPr>
            <p:cNvPr id="25" name="Gráfico 24" descr="Advertencia con relleno sólido">
              <a:extLst>
                <a:ext uri="{FF2B5EF4-FFF2-40B4-BE49-F238E27FC236}">
                  <a16:creationId xmlns:a16="http://schemas.microsoft.com/office/drawing/2014/main" id="{C2F8E458-9B5B-B5E7-1BC7-022ACE639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4769" y="5082525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403F59D-3E3A-FD9F-B273-B5B32C4252DC}"/>
              </a:ext>
            </a:extLst>
          </p:cNvPr>
          <p:cNvGrpSpPr/>
          <p:nvPr/>
        </p:nvGrpSpPr>
        <p:grpSpPr>
          <a:xfrm>
            <a:off x="74847" y="7177598"/>
            <a:ext cx="6659324" cy="5246183"/>
            <a:chOff x="152290" y="8220693"/>
            <a:chExt cx="6659324" cy="4378022"/>
          </a:xfrm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0D6B9DDF-0260-5891-D9EB-5E2B838B63C6}"/>
                </a:ext>
              </a:extLst>
            </p:cNvPr>
            <p:cNvSpPr/>
            <p:nvPr/>
          </p:nvSpPr>
          <p:spPr>
            <a:xfrm>
              <a:off x="152290" y="8758805"/>
              <a:ext cx="6659324" cy="383991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Coloque a la persona en un ambiente seguro.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No deje sola a la persona en la medida de lo posible.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En caso de que exista alguna lesión o intoxicación, pida apoyo medico para su tratamiento.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Pregunte si la persona tiene algún plan para lesionarse o suicidarse, así como con que herramientas lo haría y aleje, elimine o dificulte el acceso a esas herramientas.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Pida apoyo profesional lo más pronto posible.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Averigüe las razones para seguir con vida de la persona.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Proporcionar a la persona toda la información necesaria para que sepa a quien contactar en caso de que surjan nuevamente pensamientos de autolesión o suicidio.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A pesar de la frustración los cuidadores primarios deben evitar hostilidad o críticas severas.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6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702030302020204" pitchFamily="66" charset="0"/>
                </a:rPr>
                <a:t>Es importante que los cuidadores reciban apoyo emocional y en la medida de lo posible también psicológico, ya que es común que presenten estrés grave.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5FD2F6BA-2248-E3EF-ED77-F84DF2AE26E7}"/>
                </a:ext>
              </a:extLst>
            </p:cNvPr>
            <p:cNvSpPr txBox="1"/>
            <p:nvPr/>
          </p:nvSpPr>
          <p:spPr>
            <a:xfrm>
              <a:off x="1177737" y="8425095"/>
              <a:ext cx="2974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Algunas recomendaciones</a:t>
              </a:r>
            </a:p>
          </p:txBody>
        </p:sp>
        <p:pic>
          <p:nvPicPr>
            <p:cNvPr id="29" name="Gráfico 28" descr="Preguntas con relleno sólido">
              <a:extLst>
                <a:ext uri="{FF2B5EF4-FFF2-40B4-BE49-F238E27FC236}">
                  <a16:creationId xmlns:a16="http://schemas.microsoft.com/office/drawing/2014/main" id="{77DD6736-DF1F-CD03-50E5-A525C78F1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0841" y="8220693"/>
              <a:ext cx="914400" cy="686690"/>
            </a:xfrm>
            <a:prstGeom prst="rect">
              <a:avLst/>
            </a:prstGeom>
          </p:spPr>
        </p:pic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115FB93-869B-E4BB-2631-4FDC4AC12B5B}"/>
              </a:ext>
            </a:extLst>
          </p:cNvPr>
          <p:cNvSpPr txBox="1"/>
          <p:nvPr/>
        </p:nvSpPr>
        <p:spPr>
          <a:xfrm>
            <a:off x="185894" y="12496351"/>
            <a:ext cx="62592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Teléfonos para pedir apoyo: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Línea de emergencias: Llamar al </a:t>
            </a:r>
            <a:r>
              <a:rPr lang="es-MX" sz="1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911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 servicio las 24 horas. </a:t>
            </a:r>
            <a:endParaRPr lang="es-MX" sz="11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LOCATEL: Marca al </a:t>
            </a:r>
            <a:r>
              <a:rPr lang="es-MX" sz="1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*0311 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al </a:t>
            </a:r>
            <a:r>
              <a:rPr lang="es-MX" sz="1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55-5658-1111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servicio 24 horas.</a:t>
            </a:r>
            <a:endParaRPr lang="es-MX" sz="11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Línea de la Vida</a:t>
            </a:r>
            <a:r>
              <a:rPr lang="es-MX" sz="1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800-911-2000</a:t>
            </a:r>
            <a:r>
              <a:rPr lang="es-MX" sz="11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1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servicio</a:t>
            </a:r>
            <a:r>
              <a:rPr lang="es-MX" sz="11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 horas</a:t>
            </a:r>
            <a:endParaRPr lang="es-MX" sz="11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Atención Psicológica </a:t>
            </a:r>
            <a:r>
              <a:rPr lang="es-MX" sz="1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Center: Llamar al </a:t>
            </a:r>
            <a:r>
              <a:rPr lang="es-MX" sz="1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55-5025-0855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 un horario de 8 a 18 </a:t>
            </a:r>
            <a:r>
              <a:rPr lang="es-MX" sz="11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hrs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MX" sz="11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Consejo Ciudadano CDMX: Llamar al </a:t>
            </a:r>
            <a:r>
              <a:rPr lang="es-MX" sz="1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55-5533-5533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servicio 24 horas.</a:t>
            </a:r>
            <a:endParaRPr lang="es-MX" sz="11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SAPTEL: Llamar al </a:t>
            </a:r>
            <a:r>
              <a:rPr lang="es-MX" sz="1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55-5259-8121</a:t>
            </a:r>
            <a:r>
              <a:rPr lang="es-MX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servicio 24 horas.</a:t>
            </a:r>
            <a:endParaRPr lang="es-MX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2" name="Gráfico 21" descr="Auricular con relleno sólido">
            <a:extLst>
              <a:ext uri="{FF2B5EF4-FFF2-40B4-BE49-F238E27FC236}">
                <a16:creationId xmlns:a16="http://schemas.microsoft.com/office/drawing/2014/main" id="{DE9AC237-4DBD-53B6-111D-C8A8F9C41E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8296" y="12376097"/>
            <a:ext cx="364160" cy="36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354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744</Words>
  <Application>Microsoft Office PowerPoint</Application>
  <PresentationFormat>Personalizado</PresentationFormat>
  <Paragraphs>44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Comic Sans MS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Leon</dc:creator>
  <cp:lastModifiedBy>Alan Leon</cp:lastModifiedBy>
  <cp:revision>2</cp:revision>
  <dcterms:created xsi:type="dcterms:W3CDTF">2026-10-20T17:54:45Z</dcterms:created>
  <dcterms:modified xsi:type="dcterms:W3CDTF">2026-10-20T19:32:14Z</dcterms:modified>
</cp:coreProperties>
</file>